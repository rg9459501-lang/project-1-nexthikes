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5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939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41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0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75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6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91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34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82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7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9328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59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52987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691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0222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56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1051560"/>
            <a:ext cx="109728" cy="4297680"/>
          </a:xfrm>
          <a:prstGeom prst="rect">
            <a:avLst/>
          </a:prstGeom>
          <a:solidFill>
            <a:srgbClr val="24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325880"/>
            <a:ext cx="987552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BIKE-SHARING</a:t>
            </a:r>
            <a:br/>
            <a:r>
              <a:t>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6576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6DCEB"/>
                </a:solidFill>
              </a:defRPr>
            </a:pPr>
            <a:r>
              <a:t>Usage patterns across dates, hours, and rider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571500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6DCEB"/>
                </a:solidFill>
              </a:defRPr>
            </a:pPr>
            <a:r>
              <a:t>307 records | 28 Jan 2011–14 Feb 2011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Dataset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</a:defRPr>
            </a:pPr>
            <a:r>
              <a:t>Summary statistics for the supplied rows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08760"/>
            <a:ext cx="246888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6733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7D"/>
                </a:solidFill>
              </a:defRPr>
            </a:pPr>
            <a:r>
              <a:t>Records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933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A6EB4"/>
                </a:solidFill>
              </a:defRPr>
            </a:pPr>
            <a:r>
              <a:t>307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508760"/>
            <a:ext cx="246888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0" y="16733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7D"/>
                </a:solidFill>
              </a:defRPr>
            </a:pPr>
            <a:r>
              <a:t>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933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A6EB4"/>
                </a:solidFill>
              </a:defRPr>
            </a:pPr>
            <a: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246888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16733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7D"/>
                </a:solidFill>
              </a:defRPr>
            </a:pPr>
            <a:r>
              <a:t>Total rides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933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A6EB4"/>
                </a:solidFill>
              </a:defRPr>
            </a:pPr>
            <a:r>
              <a:t>22,977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1508760"/>
            <a:ext cx="2468880" cy="1143000"/>
          </a:xfrm>
          <a:prstGeom prst="roundRect">
            <a:avLst/>
          </a:prstGeom>
          <a:solidFill>
            <a:srgbClr val="EFF5FA"/>
          </a:solidFill>
          <a:ln>
            <a:solidFill>
              <a:srgbClr val="DAE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0" y="1673352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07D"/>
                </a:solidFill>
              </a:defRPr>
            </a:pPr>
            <a:r>
              <a:t>Avg. per record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993392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A6EB4"/>
                </a:solidFill>
              </a:defRPr>
            </a:pPr>
            <a:r>
              <a:t>74.8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632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</a:defRPr>
            </a:pPr>
            <a:r>
              <a:t>• Time coverage in this excerpt: 28 Jan 2011 to 14 Feb 2011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</a:defRPr>
            </a:pPr>
            <a:r>
              <a:t>• Time fields: date, hour, weekday, working-day flag, and holiday flag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</a:defRPr>
            </a:pPr>
            <a:r>
              <a:t>• Environmental fields: temperature, feels-like temperature, humidity, and windspeed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</a:defRPr>
            </a:pPr>
            <a:r>
              <a:t>• Outcome fields: casual riders, registered riders, and total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Source: supplied data excerpt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Data structure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</a:defRPr>
            </a:pPr>
            <a:r>
              <a:t>The provided markdown table contains 16 fields and no header 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</a:defRPr>
            </a:pPr>
            <a:r>
              <a:t>• Parsed pipe-delimited rows into 16 fields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</a:defRPr>
            </a:pPr>
            <a:r>
              <a:t>• Converted date strings to date values and TRUE/FALSE to Boolean values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</a:defRPr>
            </a:pPr>
            <a:r>
              <a:t>• Converted count fields and category codes to numeric values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</a:defRPr>
            </a:pPr>
            <a:r>
              <a:t>• No missing-value imputation or outlier removal was applied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</a:defRPr>
            </a:pPr>
            <a:r>
              <a:t>• Field names were inferred from the order and values; confirm against the original dataset before formal 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Source: supplied data excerpt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Daily ride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</a:defRPr>
            </a:pPr>
            <a:r>
              <a:t>Daily sums of the total-count field in the supplied excerpt</a:t>
            </a:r>
          </a:p>
        </p:txBody>
      </p:sp>
      <p:pic>
        <p:nvPicPr>
          <p:cNvPr id="4" name="Picture 3" descr="ppt_da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7589520" cy="3541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0" y="16459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D3741"/>
                </a:solidFill>
              </a:defRPr>
            </a:pPr>
            <a:r>
              <a:t>• Highest daily total: 1,739 rides</a:t>
            </a:r>
          </a:p>
          <a:p>
            <a:pPr>
              <a:spcAft>
                <a:spcPts val="1300"/>
              </a:spcAft>
              <a:defRPr sz="1600">
                <a:solidFill>
                  <a:srgbClr val="2D3741"/>
                </a:solidFill>
              </a:defRPr>
            </a:pPr>
            <a:r>
              <a:t>• Peak date: 11 Feb 2011</a:t>
            </a:r>
          </a:p>
          <a:p>
            <a:pPr>
              <a:spcAft>
                <a:spcPts val="1300"/>
              </a:spcAft>
              <a:defRPr sz="1600">
                <a:solidFill>
                  <a:srgbClr val="2D3741"/>
                </a:solidFill>
              </a:defRPr>
            </a:pPr>
            <a:r>
              <a:t>• Daily totals vary across this short excerpt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Source: supplied data excerpt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When is ride activity highest?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</a:defRPr>
            </a:pPr>
            <a:r>
              <a:t>Average ride count by hour across available records</a:t>
            </a:r>
          </a:p>
        </p:txBody>
      </p:sp>
      <p:pic>
        <p:nvPicPr>
          <p:cNvPr id="4" name="Picture 3" descr="ppt_hou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7498079" cy="3499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64592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D3741"/>
                </a:solidFill>
              </a:defRPr>
            </a:pPr>
            <a:r>
              <a:t>• Highest average hour: 17:00</a:t>
            </a:r>
          </a:p>
          <a:p>
            <a:pPr>
              <a:spcAft>
                <a:spcPts val="1300"/>
              </a:spcAft>
              <a:defRPr sz="1600">
                <a:solidFill>
                  <a:srgbClr val="2D3741"/>
                </a:solidFill>
              </a:defRPr>
            </a:pPr>
            <a:r>
              <a:t>• Average count at that hour: 154.1</a:t>
            </a:r>
          </a:p>
          <a:p>
            <a:pPr>
              <a:spcAft>
                <a:spcPts val="1300"/>
              </a:spcAft>
              <a:defRPr sz="1600">
                <a:solidFill>
                  <a:srgbClr val="2D3741"/>
                </a:solidFill>
              </a:defRPr>
            </a:pPr>
            <a:r>
              <a:t>• Hourly patterns can help distinguish commute periods from quieter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Source: supplied data excerpt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Working-day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</a:defRPr>
            </a:pPr>
            <a:r>
              <a:t>Workingday flag: 0 = non-working, 1 = working</a:t>
            </a:r>
          </a:p>
        </p:txBody>
      </p:sp>
      <p:pic>
        <p:nvPicPr>
          <p:cNvPr id="4" name="Picture 3" descr="ppt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583680" cy="3072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73736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D3741"/>
                </a:solidFill>
              </a:defRPr>
            </a:pPr>
            <a:r>
              <a:t>• Non-working day average: nan rides per record</a:t>
            </a:r>
          </a:p>
          <a:p>
            <a:pPr>
              <a:spcAft>
                <a:spcPts val="1300"/>
              </a:spcAft>
              <a:defRPr sz="1600">
                <a:solidFill>
                  <a:srgbClr val="2D3741"/>
                </a:solidFill>
              </a:defRPr>
            </a:pPr>
            <a:r>
              <a:t>• Working day average: 76.3 rides per record</a:t>
            </a:r>
          </a:p>
          <a:p>
            <a:pPr>
              <a:spcAft>
                <a:spcPts val="1300"/>
              </a:spcAft>
              <a:defRPr sz="1600">
                <a:solidFill>
                  <a:srgbClr val="2D3741"/>
                </a:solidFill>
              </a:defRPr>
            </a:pPr>
            <a:r>
              <a:t>• Descriptive comparison only; it does not establish causation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Source: supplied data excerpt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Who is using the bikes?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</a:defRPr>
            </a:pPr>
            <a:r>
              <a:t>Share of total rides from the two rider categories</a:t>
            </a:r>
          </a:p>
        </p:txBody>
      </p:sp>
      <p:pic>
        <p:nvPicPr>
          <p:cNvPr id="4" name="Picture 3" descr="ppt_ri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943600" cy="277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</a:defRPr>
            </a:pPr>
            <a:r>
              <a:t>• Registered rides: 90.5%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</a:defRPr>
            </a:pPr>
            <a:r>
              <a:t>• Casual rides: 9.5%</a:t>
            </a:r>
          </a:p>
          <a:p>
            <a:pPr>
              <a:spcAft>
                <a:spcPts val="1300"/>
              </a:spcAft>
              <a:defRPr sz="1700">
                <a:solidFill>
                  <a:srgbClr val="2D3741"/>
                </a:solidFill>
              </a:defRPr>
            </a:pPr>
            <a:r>
              <a:t>• Count reconciles to casual + registered in 307 of 307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Source: supplied data excerpt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Temperature &amp; humidity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07D"/>
                </a:solidFill>
              </a:defRPr>
            </a:pPr>
            <a:r>
              <a:t>Environmental variables available for further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</a:defRPr>
            </a:pPr>
            <a:r>
              <a:t>• Temperature values range from 0.06 to 0.42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</a:defRPr>
            </a:pPr>
            <a:r>
              <a:t>• Humidity values range from 0.21 to 1.00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</a:defRPr>
            </a:pPr>
            <a:r>
              <a:t>• Windspeed values range from 0.00 to 0.58</a:t>
            </a:r>
          </a:p>
          <a:p>
            <a:pPr>
              <a:spcAft>
                <a:spcPts val="1300"/>
              </a:spcAft>
              <a:defRPr sz="1900">
                <a:solidFill>
                  <a:srgbClr val="2D3741"/>
                </a:solidFill>
              </a:defRPr>
            </a:pPr>
            <a:r>
              <a:t>• This excerpt does not include a weather-category column; comparisons here are limited to the fields shown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Source: supplied data excerpt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63F"/>
                </a:solidFill>
              </a:defRPr>
            </a:pPr>
            <a:r>
              <a:t>Key takeaways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741"/>
                </a:solidFill>
              </a:defRPr>
            </a:pPr>
            <a:r>
              <a:t>• The excerpt contains 307 hourly records across 18 dates.</a:t>
            </a:r>
          </a:p>
          <a:p>
            <a:pPr>
              <a:spcAft>
                <a:spcPts val="1300"/>
              </a:spcAft>
              <a:defRPr sz="1800">
                <a:solidFill>
                  <a:srgbClr val="2D3741"/>
                </a:solidFill>
              </a:defRPr>
            </a:pPr>
            <a:r>
              <a:t>• Peak average hour in this excerpt: 17:00.</a:t>
            </a:r>
          </a:p>
          <a:p>
            <a:pPr>
              <a:spcAft>
                <a:spcPts val="1300"/>
              </a:spcAft>
              <a:defRPr sz="1800">
                <a:solidFill>
                  <a:srgbClr val="2D3741"/>
                </a:solidFill>
              </a:defRPr>
            </a:pPr>
            <a:r>
              <a:t>• Registered riders account for 90.5% of the total ride count in the excerpt.</a:t>
            </a:r>
          </a:p>
          <a:p>
            <a:pPr>
              <a:spcAft>
                <a:spcPts val="1300"/>
              </a:spcAft>
              <a:defRPr sz="1800">
                <a:solidFill>
                  <a:srgbClr val="2D3741"/>
                </a:solidFill>
              </a:defRPr>
            </a:pPr>
            <a:r>
              <a:t>• Results describe only the supplied rows, not necessarily the full bike-sharing dataset.</a:t>
            </a:r>
          </a:p>
          <a:p>
            <a:pPr>
              <a:spcAft>
                <a:spcPts val="1300"/>
              </a:spcAft>
              <a:defRPr sz="1800">
                <a:solidFill>
                  <a:srgbClr val="2D3741"/>
                </a:solidFill>
              </a:defRPr>
            </a:pPr>
            <a:r>
              <a:t>• The source has no header row; verify inferred field names and definitions before operational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</a:defRPr>
            </a:pPr>
            <a:r>
              <a:t>Source: supplied data excerpt | Slide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516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Nidhi</dc:creator>
  <cp:keywords/>
  <dc:description>generated using python-pptx</dc:description>
  <cp:lastModifiedBy>Nidhi</cp:lastModifiedBy>
  <cp:revision>2</cp:revision>
  <dcterms:created xsi:type="dcterms:W3CDTF">2013-01-27T09:14:16Z</dcterms:created>
  <dcterms:modified xsi:type="dcterms:W3CDTF">2026-10-09T17:34:14Z</dcterms:modified>
  <cp:category/>
</cp:coreProperties>
</file>